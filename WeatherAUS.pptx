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embeddedFontLst>
    <p:embeddedFont>
      <p:font typeface="Montserrat"/>
      <p:regular r:id="rId35"/>
      <p:bold r:id="rId36"/>
      <p:italic r:id="rId37"/>
      <p:boldItalic r:id="rId38"/>
    </p:embeddedFont>
    <p:embeddedFont>
      <p:font typeface="Lato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bold.fntdata"/><Relationship Id="rId20" Type="http://schemas.openxmlformats.org/officeDocument/2006/relationships/slide" Target="slides/slide15.xml"/><Relationship Id="rId42" Type="http://schemas.openxmlformats.org/officeDocument/2006/relationships/font" Target="fonts/Lato-boldItalic.fntdata"/><Relationship Id="rId41" Type="http://schemas.openxmlformats.org/officeDocument/2006/relationships/font" Target="fonts/Lato-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Montserrat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Montserrat-italic.fntdata"/><Relationship Id="rId14" Type="http://schemas.openxmlformats.org/officeDocument/2006/relationships/slide" Target="slides/slide9.xml"/><Relationship Id="rId36" Type="http://schemas.openxmlformats.org/officeDocument/2006/relationships/font" Target="fonts/Montserrat-bold.fntdata"/><Relationship Id="rId17" Type="http://schemas.openxmlformats.org/officeDocument/2006/relationships/slide" Target="slides/slide12.xml"/><Relationship Id="rId39" Type="http://schemas.openxmlformats.org/officeDocument/2006/relationships/font" Target="fonts/Lato-regular.fntdata"/><Relationship Id="rId16" Type="http://schemas.openxmlformats.org/officeDocument/2006/relationships/slide" Target="slides/slide11.xml"/><Relationship Id="rId38" Type="http://schemas.openxmlformats.org/officeDocument/2006/relationships/font" Target="fonts/Montserrat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a703e5b98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a703e5b98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126eacb28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9126eacb28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126eacb2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9126eacb2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126eacb2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9126eacb2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a703e5b98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aa703e5b98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126eacb2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9126eacb2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b93f3089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ab93f308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9126eacb28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9126eacb28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9126eacb28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9126eacb28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9126eacb28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9126eacb28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9126eacb28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9126eacb28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9126eacb28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9126eacb28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9126eacb28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9126eacb28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9126eacb28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9126eacb28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9126eacb28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9126eacb28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9126eacb28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9126eacb28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9126eacb28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9126eacb28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9126eacb28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9126eacb28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9126eacb28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9126eacb28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9126eacb28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9126eacb28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9126eacb28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9126eacb28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9126eacb28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9126eacb28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9126eacb28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9126eacb28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9126eacb28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9126eacb28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9126eacb28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9126eacb28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9126eacb28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9126eacb28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9126eacb28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9126eacb28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9126eacb28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9126eacb28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Weather AUS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3200">
                <a:latin typeface="Arial"/>
                <a:ea typeface="Arial"/>
                <a:cs typeface="Arial"/>
                <a:sym typeface="Arial"/>
              </a:rPr>
              <a:t>Prepared by Omar Essam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preview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dataset comprises about 10 years of daily weather observations from numerous locations across Australia.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AFAFA"/>
                </a:solidFill>
                <a:highlight>
                  <a:srgbClr val="262730"/>
                </a:highlight>
                <a:latin typeface="Arial"/>
                <a:ea typeface="Arial"/>
                <a:cs typeface="Arial"/>
                <a:sym typeface="Arial"/>
              </a:rPr>
              <a:t>shape: 145460 rows × 23 columns</a:t>
            </a:r>
            <a:endParaRPr sz="1200">
              <a:solidFill>
                <a:srgbClr val="FAFAFA"/>
              </a:solidFill>
              <a:highlight>
                <a:srgbClr val="26273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Arial"/>
              <a:buChar char="●"/>
            </a:pPr>
            <a:r>
              <a:rPr lang="en-GB" sz="1200">
                <a:solidFill>
                  <a:srgbClr val="FAFAFA"/>
                </a:solidFill>
                <a:highlight>
                  <a:srgbClr val="262730"/>
                </a:highlight>
                <a:latin typeface="Arial"/>
                <a:ea typeface="Arial"/>
                <a:cs typeface="Arial"/>
                <a:sym typeface="Arial"/>
              </a:rPr>
              <a:t>Temperature metrics: MinTemp, MaxTemp </a:t>
            </a:r>
            <a:endParaRPr sz="1200">
              <a:solidFill>
                <a:srgbClr val="FAFAFA"/>
              </a:solidFill>
              <a:highlight>
                <a:srgbClr val="26273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Arial"/>
              <a:buChar char="●"/>
            </a:pPr>
            <a:r>
              <a:rPr lang="en-GB" sz="1200">
                <a:solidFill>
                  <a:srgbClr val="FAFAFA"/>
                </a:solidFill>
                <a:highlight>
                  <a:srgbClr val="262730"/>
                </a:highlight>
                <a:latin typeface="Arial"/>
                <a:ea typeface="Arial"/>
                <a:cs typeface="Arial"/>
                <a:sym typeface="Arial"/>
              </a:rPr>
              <a:t>Humidity: Humidity9am / Humidity3pm </a:t>
            </a:r>
            <a:endParaRPr sz="1200">
              <a:solidFill>
                <a:srgbClr val="FAFAFA"/>
              </a:solidFill>
              <a:highlight>
                <a:srgbClr val="26273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Arial"/>
              <a:buChar char="●"/>
            </a:pPr>
            <a:r>
              <a:rPr lang="en-GB" sz="1200">
                <a:solidFill>
                  <a:srgbClr val="FAFAFA"/>
                </a:solidFill>
                <a:highlight>
                  <a:srgbClr val="262730"/>
                </a:highlight>
                <a:latin typeface="Arial"/>
                <a:ea typeface="Arial"/>
                <a:cs typeface="Arial"/>
                <a:sym typeface="Arial"/>
              </a:rPr>
              <a:t>Pressure: Pressure9am / Pressure3pm </a:t>
            </a:r>
            <a:endParaRPr sz="1200">
              <a:solidFill>
                <a:srgbClr val="FAFAFA"/>
              </a:solidFill>
              <a:highlight>
                <a:srgbClr val="26273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Arial"/>
              <a:buChar char="●"/>
            </a:pPr>
            <a:r>
              <a:rPr lang="en-GB" sz="1200">
                <a:solidFill>
                  <a:srgbClr val="FAFAFA"/>
                </a:solidFill>
                <a:highlight>
                  <a:srgbClr val="262730"/>
                </a:highlight>
                <a:latin typeface="Arial"/>
                <a:ea typeface="Arial"/>
                <a:cs typeface="Arial"/>
                <a:sym typeface="Arial"/>
              </a:rPr>
              <a:t>Wind attributes: WindGustDir, WindGustSpeed, WindSpeed9am/3pm </a:t>
            </a:r>
            <a:endParaRPr sz="1200">
              <a:solidFill>
                <a:srgbClr val="FAFAFA"/>
              </a:solidFill>
              <a:highlight>
                <a:srgbClr val="26273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Arial"/>
              <a:buChar char="●"/>
            </a:pPr>
            <a:r>
              <a:rPr lang="en-GB" sz="1200">
                <a:solidFill>
                  <a:srgbClr val="FAFAFA"/>
                </a:solidFill>
                <a:highlight>
                  <a:srgbClr val="262730"/>
                </a:highlight>
                <a:latin typeface="Arial"/>
                <a:ea typeface="Arial"/>
                <a:cs typeface="Arial"/>
                <a:sym typeface="Arial"/>
              </a:rPr>
              <a:t>Target: RainTomorrow (Yes/No)</a:t>
            </a:r>
            <a:endParaRPr sz="1200">
              <a:solidFill>
                <a:srgbClr val="FAFAFA"/>
              </a:solidFill>
              <a:highlight>
                <a:srgbClr val="262730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052550" y="16497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preview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464875" y="1350450"/>
            <a:ext cx="8110200" cy="3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Types of data:</a:t>
            </a:r>
            <a:endParaRPr/>
          </a:p>
          <a:p>
            <a:pPr indent="-292576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16 float type: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MinTemp-MaxTemp-Rainfall-Evaporation-Sunshine-WindGustSpeed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WindSpeed9am-WindSpeed3pm-Humidity9am-Humidity3pm	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Pressure9am-Pressure3pm-Cloud9am-Cloud3pm-Temp9am-Temp3pm</a:t>
            </a:r>
            <a:endParaRPr b="1"/>
          </a:p>
          <a:p>
            <a:pPr indent="-292576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7 objects: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Date-Location-WindGustDir-WindDir9am	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WindDir3pm-RainToday-RainTomorrow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The number of duplicates are 0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5720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5" title="Screenshot 2025-12-01 1356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3000" y="1564450"/>
            <a:ext cx="2888750" cy="3460976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5"/>
          <p:cNvSpPr txBox="1"/>
          <p:nvPr/>
        </p:nvSpPr>
        <p:spPr>
          <a:xfrm>
            <a:off x="4893300" y="1079075"/>
            <a:ext cx="4250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Missing values: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type="title"/>
          </p:nvPr>
        </p:nvSpPr>
        <p:spPr>
          <a:xfrm>
            <a:off x="1052550" y="16497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preview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outliers: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5" name="Google Shape;155;p16" title="Screenshot 2025-12-01 1432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3225" y="909950"/>
            <a:ext cx="6298224" cy="4113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/>
          <p:nvPr>
            <p:ph type="title"/>
          </p:nvPr>
        </p:nvSpPr>
        <p:spPr>
          <a:xfrm>
            <a:off x="1052550" y="16497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preview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outliers: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1" name="Google Shape;161;p17" title="Screenshot 2025-12-01 14233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675" y="1113400"/>
            <a:ext cx="8196612" cy="375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 txBox="1"/>
          <p:nvPr>
            <p:ph type="title"/>
          </p:nvPr>
        </p:nvSpPr>
        <p:spPr>
          <a:xfrm>
            <a:off x="943275" y="1059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Cleaning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8"/>
          <p:cNvSpPr txBox="1"/>
          <p:nvPr>
            <p:ph idx="1" type="body"/>
          </p:nvPr>
        </p:nvSpPr>
        <p:spPr>
          <a:xfrm>
            <a:off x="1018375" y="582975"/>
            <a:ext cx="8125500" cy="44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523"/>
              <a:buNone/>
            </a:pPr>
            <a:r>
              <a:rPr b="1" lang="en-GB" sz="1017">
                <a:latin typeface="Arial"/>
                <a:ea typeface="Arial"/>
                <a:cs typeface="Arial"/>
                <a:sym typeface="Arial"/>
              </a:rPr>
              <a:t> Handling data types</a:t>
            </a:r>
            <a:endParaRPr b="1" sz="1017">
              <a:latin typeface="Arial"/>
              <a:ea typeface="Arial"/>
              <a:cs typeface="Arial"/>
              <a:sym typeface="Arial"/>
            </a:endParaRPr>
          </a:p>
          <a:p>
            <a:pPr indent="-287178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923"/>
              <a:buFont typeface="Arial"/>
              <a:buChar char="●"/>
            </a:pPr>
            <a:r>
              <a:rPr lang="en-GB" sz="922">
                <a:latin typeface="Arial"/>
                <a:ea typeface="Arial"/>
                <a:cs typeface="Arial"/>
                <a:sym typeface="Arial"/>
              </a:rPr>
              <a:t>Converted </a:t>
            </a:r>
            <a:r>
              <a:rPr b="1" lang="en-GB" sz="922">
                <a:latin typeface="Arial"/>
                <a:ea typeface="Arial"/>
                <a:cs typeface="Arial"/>
                <a:sym typeface="Arial"/>
              </a:rPr>
              <a:t>Date</a:t>
            </a:r>
            <a:r>
              <a:rPr lang="en-GB" sz="922">
                <a:latin typeface="Arial"/>
                <a:ea typeface="Arial"/>
                <a:cs typeface="Arial"/>
                <a:sym typeface="Arial"/>
              </a:rPr>
              <a:t> to datetime format. </a:t>
            </a:r>
            <a:br>
              <a:rPr lang="en-GB" sz="922">
                <a:latin typeface="Arial"/>
                <a:ea typeface="Arial"/>
                <a:cs typeface="Arial"/>
                <a:sym typeface="Arial"/>
              </a:rPr>
            </a:br>
            <a:endParaRPr sz="922">
              <a:latin typeface="Arial"/>
              <a:ea typeface="Arial"/>
              <a:cs typeface="Arial"/>
              <a:sym typeface="Arial"/>
            </a:endParaRPr>
          </a:p>
          <a:p>
            <a:pPr indent="-28717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23"/>
              <a:buFont typeface="Arial"/>
              <a:buChar char="●"/>
            </a:pPr>
            <a:r>
              <a:rPr lang="en-GB" sz="922">
                <a:latin typeface="Arial"/>
                <a:ea typeface="Arial"/>
                <a:cs typeface="Arial"/>
                <a:sym typeface="Arial"/>
              </a:rPr>
              <a:t>Converted object/text columns into </a:t>
            </a:r>
            <a:r>
              <a:rPr b="1" lang="en-GB" sz="922">
                <a:latin typeface="Arial"/>
                <a:ea typeface="Arial"/>
                <a:cs typeface="Arial"/>
                <a:sym typeface="Arial"/>
              </a:rPr>
              <a:t>categorical</a:t>
            </a:r>
            <a:r>
              <a:rPr lang="en-GB" sz="922">
                <a:latin typeface="Arial"/>
                <a:ea typeface="Arial"/>
                <a:cs typeface="Arial"/>
                <a:sym typeface="Arial"/>
              </a:rPr>
              <a:t> types for efficiency and clarity.</a:t>
            </a:r>
            <a:endParaRPr sz="922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017">
                <a:latin typeface="Arial"/>
                <a:ea typeface="Arial"/>
                <a:cs typeface="Arial"/>
                <a:sym typeface="Arial"/>
              </a:rPr>
              <a:t>Missing values strategy</a:t>
            </a:r>
            <a:endParaRPr b="1" sz="1017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922">
                <a:latin typeface="Arial"/>
                <a:ea typeface="Arial"/>
                <a:cs typeface="Arial"/>
                <a:sym typeface="Arial"/>
              </a:rPr>
              <a:t>You used a smart two-level approach:</a:t>
            </a:r>
            <a:endParaRPr sz="922">
              <a:latin typeface="Arial"/>
              <a:ea typeface="Arial"/>
              <a:cs typeface="Arial"/>
              <a:sym typeface="Arial"/>
            </a:endParaRPr>
          </a:p>
          <a:p>
            <a:pPr indent="-287178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923"/>
              <a:buFont typeface="Arial"/>
              <a:buAutoNum type="arabicPeriod"/>
            </a:pPr>
            <a:r>
              <a:rPr b="1" lang="en-GB" sz="922">
                <a:latin typeface="Arial"/>
                <a:ea typeface="Arial"/>
                <a:cs typeface="Arial"/>
                <a:sym typeface="Arial"/>
              </a:rPr>
              <a:t>Drop rows</a:t>
            </a:r>
            <a:r>
              <a:rPr lang="en-GB" sz="922">
                <a:latin typeface="Arial"/>
                <a:ea typeface="Arial"/>
                <a:cs typeface="Arial"/>
                <a:sym typeface="Arial"/>
              </a:rPr>
              <a:t> where columns had very low missing values (&lt;5%).</a:t>
            </a:r>
            <a:endParaRPr sz="922">
              <a:latin typeface="Arial"/>
              <a:ea typeface="Arial"/>
              <a:cs typeface="Arial"/>
              <a:sym typeface="Arial"/>
            </a:endParaRPr>
          </a:p>
          <a:p>
            <a:pPr indent="-287178" lvl="0" marL="914400" rtl="0" algn="l">
              <a:lnSpc>
                <a:spcPct val="132692"/>
              </a:lnSpc>
              <a:spcBef>
                <a:spcPts val="0"/>
              </a:spcBef>
              <a:spcAft>
                <a:spcPts val="0"/>
              </a:spcAft>
              <a:buSzPts val="923"/>
              <a:buFont typeface="Arial"/>
              <a:buChar char="●"/>
            </a:pPr>
            <a:r>
              <a:rPr lang="en-GB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'MinTemp'</a:t>
            </a:r>
            <a:r>
              <a:rPr lang="en-GB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'MaxTemp'</a:t>
            </a:r>
            <a:r>
              <a:rPr lang="en-GB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'Rainfall'</a:t>
            </a:r>
            <a:r>
              <a:rPr lang="en-GB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87178" lvl="0" marL="914400" rtl="0" algn="l">
              <a:lnSpc>
                <a:spcPct val="132692"/>
              </a:lnSpc>
              <a:spcBef>
                <a:spcPts val="0"/>
              </a:spcBef>
              <a:spcAft>
                <a:spcPts val="0"/>
              </a:spcAft>
              <a:buSzPts val="923"/>
              <a:buFont typeface="Arial"/>
              <a:buChar char="●"/>
            </a:pPr>
            <a:r>
              <a:rPr lang="en-GB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GB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'WindDir3pm'</a:t>
            </a:r>
            <a:r>
              <a:rPr lang="en-GB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'WindSpeed9am'</a:t>
            </a:r>
            <a:r>
              <a:rPr lang="en-GB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'WindSpeed3pm'</a:t>
            </a:r>
            <a:r>
              <a:rPr lang="en-GB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87178" lvl="0" marL="914400" rtl="0" algn="l">
              <a:lnSpc>
                <a:spcPct val="132692"/>
              </a:lnSpc>
              <a:spcBef>
                <a:spcPts val="0"/>
              </a:spcBef>
              <a:spcAft>
                <a:spcPts val="0"/>
              </a:spcAft>
              <a:buSzPts val="923"/>
              <a:buFont typeface="Arial"/>
              <a:buChar char="●"/>
            </a:pPr>
            <a:r>
              <a:rPr lang="en-GB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GB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'Humidity3pm'</a:t>
            </a:r>
            <a:r>
              <a:rPr lang="en-GB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'Humidity9am'</a:t>
            </a:r>
            <a:r>
              <a:rPr lang="en-GB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87178" lvl="0" marL="914400" rtl="0" algn="l">
              <a:lnSpc>
                <a:spcPct val="132692"/>
              </a:lnSpc>
              <a:spcBef>
                <a:spcPts val="0"/>
              </a:spcBef>
              <a:spcAft>
                <a:spcPts val="0"/>
              </a:spcAft>
              <a:buSzPts val="923"/>
              <a:buFont typeface="Arial"/>
              <a:buChar char="●"/>
            </a:pPr>
            <a:r>
              <a:rPr lang="en-GB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GB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'Temp9am'</a:t>
            </a:r>
            <a:r>
              <a:rPr lang="en-GB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'Temp3pm'</a:t>
            </a:r>
            <a:r>
              <a:rPr lang="en-GB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87178" lvl="0" marL="914400" rtl="0" algn="l">
              <a:lnSpc>
                <a:spcPct val="132692"/>
              </a:lnSpc>
              <a:spcBef>
                <a:spcPts val="0"/>
              </a:spcBef>
              <a:spcAft>
                <a:spcPts val="0"/>
              </a:spcAft>
              <a:buSzPts val="923"/>
              <a:buFont typeface="Arial"/>
              <a:buChar char="●"/>
            </a:pPr>
            <a:r>
              <a:rPr lang="en-GB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GB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'RainToday'</a:t>
            </a:r>
            <a:r>
              <a:rPr lang="en-GB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'RainTomorrow'</a:t>
            </a:r>
            <a:endParaRPr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87178" lvl="0" marL="6300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23"/>
              <a:buFont typeface="Arial"/>
              <a:buChar char="●"/>
            </a:pPr>
            <a:br>
              <a:rPr lang="en-GB" sz="922">
                <a:latin typeface="Arial"/>
                <a:ea typeface="Arial"/>
                <a:cs typeface="Arial"/>
                <a:sym typeface="Arial"/>
              </a:rPr>
            </a:br>
            <a:endParaRPr sz="922">
              <a:latin typeface="Arial"/>
              <a:ea typeface="Arial"/>
              <a:cs typeface="Arial"/>
              <a:sym typeface="Arial"/>
            </a:endParaRPr>
          </a:p>
          <a:p>
            <a:pPr indent="-28717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23"/>
              <a:buFont typeface="Arial"/>
              <a:buAutoNum type="arabicPeriod"/>
            </a:pPr>
            <a:r>
              <a:rPr b="1" lang="en-GB" sz="922">
                <a:latin typeface="Arial"/>
                <a:ea typeface="Arial"/>
                <a:cs typeface="Arial"/>
                <a:sym typeface="Arial"/>
              </a:rPr>
              <a:t>Drop entire columns</a:t>
            </a:r>
            <a:r>
              <a:rPr lang="en-GB" sz="922">
                <a:latin typeface="Arial"/>
                <a:ea typeface="Arial"/>
                <a:cs typeface="Arial"/>
                <a:sym typeface="Arial"/>
              </a:rPr>
              <a:t> that were mostly missing (&gt;40%), such as:</a:t>
            </a:r>
            <a:br>
              <a:rPr lang="en-GB" sz="922">
                <a:latin typeface="Arial"/>
                <a:ea typeface="Arial"/>
                <a:cs typeface="Arial"/>
                <a:sym typeface="Arial"/>
              </a:rPr>
            </a:br>
            <a:endParaRPr sz="922">
              <a:latin typeface="Arial"/>
              <a:ea typeface="Arial"/>
              <a:cs typeface="Arial"/>
              <a:sym typeface="Arial"/>
            </a:endParaRPr>
          </a:p>
          <a:p>
            <a:pPr indent="-287178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23"/>
              <a:buFont typeface="Arial"/>
              <a:buChar char="○"/>
            </a:pPr>
            <a:r>
              <a:rPr lang="en-GB" sz="922">
                <a:latin typeface="Arial"/>
                <a:ea typeface="Arial"/>
                <a:cs typeface="Arial"/>
                <a:sym typeface="Arial"/>
              </a:rPr>
              <a:t>Evaporation</a:t>
            </a:r>
            <a:br>
              <a:rPr lang="en-GB" sz="922">
                <a:latin typeface="Arial"/>
                <a:ea typeface="Arial"/>
                <a:cs typeface="Arial"/>
                <a:sym typeface="Arial"/>
              </a:rPr>
            </a:br>
            <a:endParaRPr sz="922">
              <a:latin typeface="Arial"/>
              <a:ea typeface="Arial"/>
              <a:cs typeface="Arial"/>
              <a:sym typeface="Arial"/>
            </a:endParaRPr>
          </a:p>
          <a:p>
            <a:pPr indent="-287178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23"/>
              <a:buFont typeface="Arial"/>
              <a:buChar char="○"/>
            </a:pPr>
            <a:r>
              <a:rPr lang="en-GB" sz="922">
                <a:latin typeface="Arial"/>
                <a:ea typeface="Arial"/>
                <a:cs typeface="Arial"/>
                <a:sym typeface="Arial"/>
              </a:rPr>
              <a:t>Sunshine</a:t>
            </a:r>
            <a:br>
              <a:rPr lang="en-GB" sz="922">
                <a:latin typeface="Arial"/>
                <a:ea typeface="Arial"/>
                <a:cs typeface="Arial"/>
                <a:sym typeface="Arial"/>
              </a:rPr>
            </a:br>
            <a:endParaRPr sz="922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17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 txBox="1"/>
          <p:nvPr>
            <p:ph type="title"/>
          </p:nvPr>
        </p:nvSpPr>
        <p:spPr>
          <a:xfrm>
            <a:off x="943275" y="1059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Cleaning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9"/>
          <p:cNvSpPr txBox="1"/>
          <p:nvPr>
            <p:ph idx="1" type="body"/>
          </p:nvPr>
        </p:nvSpPr>
        <p:spPr>
          <a:xfrm>
            <a:off x="943275" y="509175"/>
            <a:ext cx="7335300" cy="44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22">
                <a:latin typeface="Arial"/>
                <a:ea typeface="Arial"/>
                <a:cs typeface="Arial"/>
                <a:sym typeface="Arial"/>
              </a:rPr>
              <a:t>3.</a:t>
            </a:r>
            <a:r>
              <a:rPr b="1" lang="en-GB" sz="1222">
                <a:latin typeface="Arial"/>
                <a:ea typeface="Arial"/>
                <a:cs typeface="Arial"/>
                <a:sym typeface="Arial"/>
              </a:rPr>
              <a:t>Impute missing numeric features</a:t>
            </a:r>
            <a:r>
              <a:rPr lang="en-GB" sz="1222">
                <a:latin typeface="Arial"/>
                <a:ea typeface="Arial"/>
                <a:cs typeface="Arial"/>
                <a:sym typeface="Arial"/>
              </a:rPr>
              <a:t> using median for columns like:</a:t>
            </a:r>
            <a:br>
              <a:rPr lang="en-GB" sz="1222">
                <a:latin typeface="Arial"/>
                <a:ea typeface="Arial"/>
                <a:cs typeface="Arial"/>
                <a:sym typeface="Arial"/>
              </a:rPr>
            </a:br>
            <a:endParaRPr sz="1222">
              <a:latin typeface="Arial"/>
              <a:ea typeface="Arial"/>
              <a:cs typeface="Arial"/>
              <a:sym typeface="Arial"/>
            </a:endParaRPr>
          </a:p>
          <a:p>
            <a:pPr indent="-306228" lvl="1" marL="9144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23"/>
              <a:buFont typeface="Arial"/>
              <a:buChar char="○"/>
            </a:pPr>
            <a:r>
              <a:rPr lang="en-GB" sz="1222">
                <a:latin typeface="Arial"/>
                <a:ea typeface="Arial"/>
                <a:cs typeface="Arial"/>
                <a:sym typeface="Arial"/>
              </a:rPr>
              <a:t>WindGustSpeed</a:t>
            </a:r>
            <a:br>
              <a:rPr lang="en-GB" sz="1222">
                <a:latin typeface="Arial"/>
                <a:ea typeface="Arial"/>
                <a:cs typeface="Arial"/>
                <a:sym typeface="Arial"/>
              </a:rPr>
            </a:br>
            <a:endParaRPr sz="1222">
              <a:latin typeface="Arial"/>
              <a:ea typeface="Arial"/>
              <a:cs typeface="Arial"/>
              <a:sym typeface="Arial"/>
            </a:endParaRPr>
          </a:p>
          <a:p>
            <a:pPr indent="-306228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23"/>
              <a:buFont typeface="Arial"/>
              <a:buChar char="○"/>
            </a:pPr>
            <a:r>
              <a:rPr lang="en-GB" sz="1222">
                <a:latin typeface="Arial"/>
                <a:ea typeface="Arial"/>
                <a:cs typeface="Arial"/>
                <a:sym typeface="Arial"/>
              </a:rPr>
              <a:t>Pressure9am</a:t>
            </a:r>
            <a:br>
              <a:rPr lang="en-GB" sz="1222">
                <a:latin typeface="Arial"/>
                <a:ea typeface="Arial"/>
                <a:cs typeface="Arial"/>
                <a:sym typeface="Arial"/>
              </a:rPr>
            </a:br>
            <a:endParaRPr sz="1222">
              <a:latin typeface="Arial"/>
              <a:ea typeface="Arial"/>
              <a:cs typeface="Arial"/>
              <a:sym typeface="Arial"/>
            </a:endParaRPr>
          </a:p>
          <a:p>
            <a:pPr indent="-306228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23"/>
              <a:buFont typeface="Arial"/>
              <a:buChar char="○"/>
            </a:pPr>
            <a:r>
              <a:rPr lang="en-GB" sz="1222">
                <a:latin typeface="Arial"/>
                <a:ea typeface="Arial"/>
                <a:cs typeface="Arial"/>
                <a:sym typeface="Arial"/>
              </a:rPr>
              <a:t>Pressure3pm</a:t>
            </a:r>
            <a:br>
              <a:rPr lang="en-GB" sz="1222">
                <a:latin typeface="Arial"/>
                <a:ea typeface="Arial"/>
                <a:cs typeface="Arial"/>
                <a:sym typeface="Arial"/>
              </a:rPr>
            </a:br>
            <a:endParaRPr sz="1222">
              <a:latin typeface="Arial"/>
              <a:ea typeface="Arial"/>
              <a:cs typeface="Arial"/>
              <a:sym typeface="Arial"/>
            </a:endParaRPr>
          </a:p>
          <a:p>
            <a:pPr indent="-306228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23"/>
              <a:buFont typeface="Arial"/>
              <a:buChar char="○"/>
            </a:pPr>
            <a:r>
              <a:rPr lang="en-GB" sz="1222">
                <a:latin typeface="Arial"/>
                <a:ea typeface="Arial"/>
                <a:cs typeface="Arial"/>
                <a:sym typeface="Arial"/>
              </a:rPr>
              <a:t>Cloud9am</a:t>
            </a:r>
            <a:br>
              <a:rPr lang="en-GB" sz="1222">
                <a:latin typeface="Arial"/>
                <a:ea typeface="Arial"/>
                <a:cs typeface="Arial"/>
                <a:sym typeface="Arial"/>
              </a:rPr>
            </a:br>
            <a:endParaRPr sz="1222">
              <a:latin typeface="Arial"/>
              <a:ea typeface="Arial"/>
              <a:cs typeface="Arial"/>
              <a:sym typeface="Arial"/>
            </a:endParaRPr>
          </a:p>
          <a:p>
            <a:pPr indent="-306228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23"/>
              <a:buFont typeface="Arial"/>
              <a:buChar char="○"/>
            </a:pPr>
            <a:r>
              <a:rPr lang="en-GB" sz="1222">
                <a:latin typeface="Arial"/>
                <a:ea typeface="Arial"/>
                <a:cs typeface="Arial"/>
                <a:sym typeface="Arial"/>
              </a:rPr>
              <a:t>Cloud3pm</a:t>
            </a:r>
            <a:endParaRPr sz="1317"/>
          </a:p>
        </p:txBody>
      </p:sp>
      <p:sp>
        <p:nvSpPr>
          <p:cNvPr id="174" name="Google Shape;174;p19"/>
          <p:cNvSpPr txBox="1"/>
          <p:nvPr/>
        </p:nvSpPr>
        <p:spPr>
          <a:xfrm>
            <a:off x="943275" y="2944450"/>
            <a:ext cx="4532400" cy="17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22">
                <a:solidFill>
                  <a:schemeClr val="lt1"/>
                </a:solidFill>
              </a:rPr>
              <a:t>4. impute categorical features</a:t>
            </a:r>
            <a:r>
              <a:rPr lang="en-GB" sz="1222">
                <a:solidFill>
                  <a:schemeClr val="lt1"/>
                </a:solidFill>
              </a:rPr>
              <a:t> using mode:</a:t>
            </a:r>
            <a:br>
              <a:rPr lang="en-GB" sz="1222">
                <a:solidFill>
                  <a:schemeClr val="lt1"/>
                </a:solidFill>
              </a:rPr>
            </a:br>
            <a:endParaRPr sz="1222">
              <a:solidFill>
                <a:schemeClr val="lt1"/>
              </a:solidFill>
            </a:endParaRPr>
          </a:p>
          <a:p>
            <a:pPr indent="-306228" lvl="1" marL="9144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23"/>
              <a:buChar char="○"/>
            </a:pPr>
            <a:r>
              <a:rPr lang="en-GB" sz="1222">
                <a:solidFill>
                  <a:schemeClr val="lt1"/>
                </a:solidFill>
              </a:rPr>
              <a:t>WindGustDir</a:t>
            </a:r>
            <a:br>
              <a:rPr lang="en-GB" sz="1222">
                <a:solidFill>
                  <a:schemeClr val="lt1"/>
                </a:solidFill>
              </a:rPr>
            </a:br>
            <a:endParaRPr sz="1222">
              <a:solidFill>
                <a:schemeClr val="lt1"/>
              </a:solidFill>
            </a:endParaRPr>
          </a:p>
          <a:p>
            <a:pPr indent="-306228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23"/>
              <a:buChar char="○"/>
            </a:pPr>
            <a:r>
              <a:rPr lang="en-GB" sz="1222">
                <a:solidFill>
                  <a:schemeClr val="lt1"/>
                </a:solidFill>
              </a:rPr>
              <a:t>WindDir9am</a:t>
            </a:r>
            <a:endParaRPr sz="1322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 txBox="1"/>
          <p:nvPr>
            <p:ph type="title"/>
          </p:nvPr>
        </p:nvSpPr>
        <p:spPr>
          <a:xfrm>
            <a:off x="943275" y="1059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</a:t>
            </a:r>
            <a:r>
              <a:rPr lang="en-GB"/>
              <a:t>Distribution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0"/>
          <p:cNvSpPr txBox="1"/>
          <p:nvPr>
            <p:ph idx="1" type="body"/>
          </p:nvPr>
        </p:nvSpPr>
        <p:spPr>
          <a:xfrm>
            <a:off x="943275" y="605125"/>
            <a:ext cx="7941600" cy="44277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p20" title="Screenshot 2025-12-01 14263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50" y="605125"/>
            <a:ext cx="8588899" cy="347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"/>
          <p:cNvSpPr txBox="1"/>
          <p:nvPr>
            <p:ph type="title"/>
          </p:nvPr>
        </p:nvSpPr>
        <p:spPr>
          <a:xfrm>
            <a:off x="943275" y="1059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Distribution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1"/>
          <p:cNvSpPr txBox="1"/>
          <p:nvPr>
            <p:ph idx="1" type="body"/>
          </p:nvPr>
        </p:nvSpPr>
        <p:spPr>
          <a:xfrm>
            <a:off x="943275" y="605125"/>
            <a:ext cx="7941600" cy="44277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p21" title="Screenshot 2025-12-01 14274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613" y="709563"/>
            <a:ext cx="8493775" cy="33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"/>
          <p:cNvSpPr txBox="1"/>
          <p:nvPr>
            <p:ph type="title"/>
          </p:nvPr>
        </p:nvSpPr>
        <p:spPr>
          <a:xfrm>
            <a:off x="943275" y="1059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Location Distribution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2"/>
          <p:cNvSpPr txBox="1"/>
          <p:nvPr>
            <p:ph idx="1" type="body"/>
          </p:nvPr>
        </p:nvSpPr>
        <p:spPr>
          <a:xfrm>
            <a:off x="943275" y="605125"/>
            <a:ext cx="7941600" cy="44277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Sydney</a:t>
            </a:r>
            <a:r>
              <a:rPr lang="en-GB" sz="1100">
                <a:latin typeface="Arial"/>
                <a:ea typeface="Arial"/>
                <a:cs typeface="Arial"/>
                <a:sym typeface="Arial"/>
              </a:rPr>
              <a:t> is the most raining location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" name="Google Shape;195;p22" title="Screenshot 2025-12-01 1435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9723" y="961023"/>
            <a:ext cx="4848700" cy="345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 txBox="1"/>
          <p:nvPr>
            <p:ph type="title"/>
          </p:nvPr>
        </p:nvSpPr>
        <p:spPr>
          <a:xfrm>
            <a:off x="301275" y="1616125"/>
            <a:ext cx="4178100" cy="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diff between wind dir at 9am &amp; 3pm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23" title="Screenshot 2025-12-01 1437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9324" y="494450"/>
            <a:ext cx="3956376" cy="453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/>
          <p:nvPr>
            <p:ph type="title"/>
          </p:nvPr>
        </p:nvSpPr>
        <p:spPr>
          <a:xfrm>
            <a:off x="943275" y="1059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Feature Engineering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4"/>
          <p:cNvSpPr txBox="1"/>
          <p:nvPr>
            <p:ph idx="1" type="body"/>
          </p:nvPr>
        </p:nvSpPr>
        <p:spPr>
          <a:xfrm>
            <a:off x="943275" y="605125"/>
            <a:ext cx="7941600" cy="44277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>
                <a:latin typeface="Arial"/>
                <a:ea typeface="Arial"/>
                <a:cs typeface="Arial"/>
                <a:sym typeface="Arial"/>
              </a:rPr>
              <a:t>Seasonal &amp; time-based features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Extracted </a:t>
            </a:r>
            <a:r>
              <a:rPr b="1" lang="en-GB" sz="1100">
                <a:latin typeface="Arial"/>
                <a:ea typeface="Arial"/>
                <a:cs typeface="Arial"/>
                <a:sym typeface="Arial"/>
              </a:rPr>
              <a:t>Year, Month, Day, DayOfYear</a:t>
            </a:r>
            <a:br>
              <a:rPr b="1" lang="en-GB" sz="1100">
                <a:latin typeface="Arial"/>
                <a:ea typeface="Arial"/>
                <a:cs typeface="Arial"/>
                <a:sym typeface="Arial"/>
              </a:rPr>
            </a:b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Created a </a:t>
            </a:r>
            <a:r>
              <a:rPr b="1" lang="en-GB" sz="1100">
                <a:latin typeface="Arial"/>
                <a:ea typeface="Arial"/>
                <a:cs typeface="Arial"/>
                <a:sym typeface="Arial"/>
              </a:rPr>
              <a:t>Season</a:t>
            </a:r>
            <a:r>
              <a:rPr lang="en-GB" sz="1100">
                <a:latin typeface="Arial"/>
                <a:ea typeface="Arial"/>
                <a:cs typeface="Arial"/>
                <a:sym typeface="Arial"/>
              </a:rPr>
              <a:t> feature (Summer, Autumn, Winter, Spring)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>
                <a:latin typeface="Arial"/>
                <a:ea typeface="Arial"/>
                <a:cs typeface="Arial"/>
                <a:sym typeface="Arial"/>
              </a:rPr>
              <a:t>Weather-derived features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en-GB" sz="1100">
                <a:latin typeface="Arial"/>
                <a:ea typeface="Arial"/>
                <a:cs typeface="Arial"/>
                <a:sym typeface="Arial"/>
              </a:rPr>
              <a:t>TempDiff = MaxTemp – MinTemp</a:t>
            </a:r>
            <a:br>
              <a:rPr b="1" lang="en-GB" sz="1100">
                <a:latin typeface="Arial"/>
                <a:ea typeface="Arial"/>
                <a:cs typeface="Arial"/>
                <a:sym typeface="Arial"/>
              </a:rPr>
            </a:b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en-GB" sz="1100">
                <a:latin typeface="Arial"/>
                <a:ea typeface="Arial"/>
                <a:cs typeface="Arial"/>
                <a:sym typeface="Arial"/>
              </a:rPr>
              <a:t>PressureDrop = Pressure9am – Pressure3pm</a:t>
            </a:r>
            <a:br>
              <a:rPr b="1" lang="en-GB" sz="1100">
                <a:latin typeface="Arial"/>
                <a:ea typeface="Arial"/>
                <a:cs typeface="Arial"/>
                <a:sym typeface="Arial"/>
              </a:rPr>
            </a:b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en-GB" sz="1100">
                <a:latin typeface="Arial"/>
                <a:ea typeface="Arial"/>
                <a:cs typeface="Arial"/>
                <a:sym typeface="Arial"/>
              </a:rPr>
              <a:t>HumidityDiff = Humidity3pm – Humidity9am</a:t>
            </a:r>
            <a:br>
              <a:rPr b="1" lang="en-GB" sz="1100">
                <a:latin typeface="Arial"/>
                <a:ea typeface="Arial"/>
                <a:cs typeface="Arial"/>
                <a:sym typeface="Arial"/>
              </a:rPr>
            </a:b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en-GB" sz="1100">
                <a:latin typeface="Arial"/>
                <a:ea typeface="Arial"/>
                <a:cs typeface="Arial"/>
                <a:sym typeface="Arial"/>
              </a:rPr>
              <a:t>WindSpeedChange = WindSpeed3pm – WindSpeed9am</a:t>
            </a:r>
            <a:br>
              <a:rPr b="1" lang="en-GB" sz="1100">
                <a:latin typeface="Arial"/>
                <a:ea typeface="Arial"/>
                <a:cs typeface="Arial"/>
                <a:sym typeface="Arial"/>
              </a:rPr>
            </a:b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en-GB" sz="1100">
                <a:latin typeface="Arial"/>
                <a:ea typeface="Arial"/>
                <a:cs typeface="Arial"/>
                <a:sym typeface="Arial"/>
              </a:rPr>
              <a:t>IsWindyDay = 1 if WindGustSpeed &gt; 60 else 0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5"/>
          <p:cNvSpPr txBox="1"/>
          <p:nvPr>
            <p:ph type="title"/>
          </p:nvPr>
        </p:nvSpPr>
        <p:spPr>
          <a:xfrm>
            <a:off x="1052550" y="184167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/>
              <a:t> Analysis</a:t>
            </a:r>
            <a:endParaRPr b="1" sz="7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 txBox="1"/>
          <p:nvPr>
            <p:ph type="title"/>
          </p:nvPr>
        </p:nvSpPr>
        <p:spPr>
          <a:xfrm>
            <a:off x="301275" y="1616125"/>
            <a:ext cx="4178100" cy="29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RainTomorrow vs Humidity3pm: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Humidity at 3pm is significantly higher on days when it rains tomorrow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Humidity3pm is the most powerful predictor of rain in the WeatherAUS dataset.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8" name="Google Shape;218;p26" title="Screenshot 2025-12-01 1447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927750"/>
            <a:ext cx="4359824" cy="328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6"/>
          <p:cNvSpPr txBox="1"/>
          <p:nvPr/>
        </p:nvSpPr>
        <p:spPr>
          <a:xfrm>
            <a:off x="1151200" y="118075"/>
            <a:ext cx="7254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How do humidity levels at 3pm compare between rainy and non-rainy days?</a:t>
            </a:r>
            <a:endParaRPr sz="2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7"/>
          <p:cNvSpPr txBox="1"/>
          <p:nvPr>
            <p:ph type="title"/>
          </p:nvPr>
        </p:nvSpPr>
        <p:spPr>
          <a:xfrm>
            <a:off x="301275" y="1616125"/>
            <a:ext cx="4178100" cy="29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RainTomorrow vs TempDiff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Large temperature swings within the day correlate with a higher chance of rain tomorrow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5" name="Google Shape;225;p27" title="Screenshot 2025-12-01 1449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9375" y="1274075"/>
            <a:ext cx="4359825" cy="2861798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7"/>
          <p:cNvSpPr txBox="1"/>
          <p:nvPr/>
        </p:nvSpPr>
        <p:spPr>
          <a:xfrm>
            <a:off x="951950" y="154975"/>
            <a:ext cx="8073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How does temperature difference (TempDiff) relate to rainfall probability?</a:t>
            </a:r>
            <a:endParaRPr sz="2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8"/>
          <p:cNvSpPr txBox="1"/>
          <p:nvPr>
            <p:ph type="title"/>
          </p:nvPr>
        </p:nvSpPr>
        <p:spPr>
          <a:xfrm>
            <a:off x="301275" y="1616125"/>
            <a:ext cx="4178100" cy="29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RainTomorrow vs Pressure 3pm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lower on rainy days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2" name="Google Shape;232;p28" title="Screenshot 2025-12-01 15015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9375" y="1244575"/>
            <a:ext cx="4359825" cy="30985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9"/>
          <p:cNvSpPr txBox="1"/>
          <p:nvPr>
            <p:ph type="title"/>
          </p:nvPr>
        </p:nvSpPr>
        <p:spPr>
          <a:xfrm>
            <a:off x="301275" y="1616125"/>
            <a:ext cx="4178100" cy="29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RainTomorrow vs IsWindyDay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Windy days are more likely to be followed by rainfall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9"/>
          <p:cNvSpPr txBox="1"/>
          <p:nvPr/>
        </p:nvSpPr>
        <p:spPr>
          <a:xfrm>
            <a:off x="951950" y="154975"/>
            <a:ext cx="8073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Is a high wind gust (&gt;60 km/h) a strong indicator of next-day rain?</a:t>
            </a:r>
            <a:endParaRPr sz="2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39" name="Google Shape;239;p29" title="Screenshot 2025-12-01 1504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1775" y="1230775"/>
            <a:ext cx="4359825" cy="33744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0"/>
          <p:cNvSpPr txBox="1"/>
          <p:nvPr>
            <p:ph type="title"/>
          </p:nvPr>
        </p:nvSpPr>
        <p:spPr>
          <a:xfrm>
            <a:off x="301275" y="1616125"/>
            <a:ext cx="4178100" cy="29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RainTomorrow vs IsWindyDay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Windy days are more likely to be followed by rainfall.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0"/>
          <p:cNvSpPr txBox="1"/>
          <p:nvPr/>
        </p:nvSpPr>
        <p:spPr>
          <a:xfrm>
            <a:off x="951950" y="154975"/>
            <a:ext cx="8073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Is WindSpeed3pm higher on days before rain?</a:t>
            </a:r>
            <a:endParaRPr sz="2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46" name="Google Shape;246;p30" title="Screenshot 2025-12-01 15302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1775" y="861475"/>
            <a:ext cx="4359825" cy="3581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1"/>
          <p:cNvSpPr txBox="1"/>
          <p:nvPr>
            <p:ph type="title"/>
          </p:nvPr>
        </p:nvSpPr>
        <p:spPr>
          <a:xfrm>
            <a:off x="301275" y="1616125"/>
            <a:ext cx="4178100" cy="29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RainToday is a strong temporal predictor for RainTomorrow.</a:t>
            </a:r>
            <a:endParaRPr/>
          </a:p>
        </p:txBody>
      </p:sp>
      <p:sp>
        <p:nvSpPr>
          <p:cNvPr id="252" name="Google Shape;252;p31"/>
          <p:cNvSpPr txBox="1"/>
          <p:nvPr/>
        </p:nvSpPr>
        <p:spPr>
          <a:xfrm>
            <a:off x="951950" y="154975"/>
            <a:ext cx="8073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RainTomorrow vs RainToday</a:t>
            </a:r>
            <a:endParaRPr sz="2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53" name="Google Shape;253;p31" title="Screenshot 2025-12-01 1535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231513"/>
            <a:ext cx="4359825" cy="2680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2"/>
          <p:cNvSpPr txBox="1"/>
          <p:nvPr>
            <p:ph type="title"/>
          </p:nvPr>
        </p:nvSpPr>
        <p:spPr>
          <a:xfrm>
            <a:off x="301275" y="1616125"/>
            <a:ext cx="4178100" cy="29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Winter → highest rain probability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Autumn → second highest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Spring → moderate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Summer → lowest rain probability</a:t>
            </a:r>
            <a:endParaRPr sz="1400"/>
          </a:p>
        </p:txBody>
      </p:sp>
      <p:sp>
        <p:nvSpPr>
          <p:cNvPr id="259" name="Google Shape;259;p32"/>
          <p:cNvSpPr txBox="1"/>
          <p:nvPr/>
        </p:nvSpPr>
        <p:spPr>
          <a:xfrm>
            <a:off x="951950" y="154975"/>
            <a:ext cx="8073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RainTomorrow vs Season</a:t>
            </a:r>
            <a:endParaRPr sz="2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60" name="Google Shape;26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1775" y="861475"/>
            <a:ext cx="4359825" cy="3276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3"/>
          <p:cNvSpPr txBox="1"/>
          <p:nvPr/>
        </p:nvSpPr>
        <p:spPr>
          <a:xfrm>
            <a:off x="951950" y="154975"/>
            <a:ext cx="8073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RainTomorrow vs Location</a:t>
            </a:r>
            <a:endParaRPr sz="2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66" name="Google Shape;26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0950" y="920500"/>
            <a:ext cx="5482476" cy="3433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4"/>
          <p:cNvSpPr txBox="1"/>
          <p:nvPr/>
        </p:nvSpPr>
        <p:spPr>
          <a:xfrm>
            <a:off x="951950" y="154975"/>
            <a:ext cx="8073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RainTomorrow vs Cloud3pm</a:t>
            </a:r>
            <a:endParaRPr sz="2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72" name="Google Shape;27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9800" y="709075"/>
            <a:ext cx="521970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4"/>
          <p:cNvSpPr txBox="1"/>
          <p:nvPr/>
        </p:nvSpPr>
        <p:spPr>
          <a:xfrm>
            <a:off x="184500" y="1719425"/>
            <a:ext cx="3453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100">
                <a:solidFill>
                  <a:schemeClr val="lt1"/>
                </a:solidFill>
              </a:rPr>
              <a:t>C</a:t>
            </a:r>
            <a:r>
              <a:rPr b="1" lang="en-GB" sz="1100">
                <a:solidFill>
                  <a:schemeClr val="lt1"/>
                </a:solidFill>
              </a:rPr>
              <a:t>loud cover in the afternoon is a strong signal of ongoing atmospheric instability.</a:t>
            </a:r>
            <a:endParaRPr b="1" sz="1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5"/>
          <p:cNvSpPr txBox="1"/>
          <p:nvPr/>
        </p:nvSpPr>
        <p:spPr>
          <a:xfrm>
            <a:off x="951950" y="154975"/>
            <a:ext cx="8073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Summary </a:t>
            </a:r>
            <a:endParaRPr sz="2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9" name="Google Shape;279;p35"/>
          <p:cNvSpPr txBox="1"/>
          <p:nvPr/>
        </p:nvSpPr>
        <p:spPr>
          <a:xfrm>
            <a:off x="1409500" y="1033125"/>
            <a:ext cx="68040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AFAFA"/>
              </a:buClr>
              <a:buSzPts val="1200"/>
              <a:buChar char="●"/>
            </a:pPr>
            <a:r>
              <a:rPr lang="en-GB" sz="1200">
                <a:solidFill>
                  <a:srgbClr val="FAFAFA"/>
                </a:solidFill>
                <a:highlight>
                  <a:srgbClr val="262730"/>
                </a:highlight>
              </a:rPr>
              <a:t>Raw shape: 145460 rows × 23 columns </a:t>
            </a:r>
            <a:endParaRPr sz="1200">
              <a:solidFill>
                <a:srgbClr val="FAFAFA"/>
              </a:solidFill>
              <a:highlight>
                <a:srgbClr val="262730"/>
              </a:highlight>
            </a:endParaRPr>
          </a:p>
          <a:p>
            <a:pPr indent="-304800" lvl="0" marL="457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Char char="●"/>
            </a:pPr>
            <a:r>
              <a:rPr lang="en-GB" sz="1200">
                <a:solidFill>
                  <a:srgbClr val="FAFAFA"/>
                </a:solidFill>
                <a:highlight>
                  <a:srgbClr val="262730"/>
                </a:highlight>
              </a:rPr>
              <a:t>After cleaning: 134590 rows × 31 columns</a:t>
            </a:r>
            <a:endParaRPr sz="1200">
              <a:solidFill>
                <a:srgbClr val="FAFAFA"/>
              </a:solidFill>
              <a:highlight>
                <a:srgbClr val="262730"/>
              </a:highlight>
            </a:endParaRPr>
          </a:p>
          <a:p>
            <a:pPr indent="-304800" lvl="0" marL="457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Char char="●"/>
            </a:pPr>
            <a:r>
              <a:rPr lang="en-GB" sz="1200">
                <a:solidFill>
                  <a:srgbClr val="FAFAFA"/>
                </a:solidFill>
                <a:highlight>
                  <a:srgbClr val="262730"/>
                </a:highlight>
              </a:rPr>
              <a:t>Removed Sunshine &amp; Evaporation cols</a:t>
            </a:r>
            <a:endParaRPr sz="1200">
              <a:solidFill>
                <a:srgbClr val="FAFAFA"/>
              </a:solidFill>
              <a:highlight>
                <a:srgbClr val="262730"/>
              </a:highlight>
            </a:endParaRPr>
          </a:p>
          <a:p>
            <a:pPr indent="-304800" lvl="0" marL="457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Char char="●"/>
            </a:pPr>
            <a:r>
              <a:rPr lang="en-GB" sz="1200">
                <a:solidFill>
                  <a:srgbClr val="FAFAFA"/>
                </a:solidFill>
                <a:highlight>
                  <a:srgbClr val="262730"/>
                </a:highlight>
              </a:rPr>
              <a:t>Added new cols : Year - Month- Day - DayOfYear - season - tempdiff - preassure drop - humidty diff - windsoeedchange - iswindyday </a:t>
            </a:r>
            <a:endParaRPr sz="1200">
              <a:solidFill>
                <a:srgbClr val="FAFAFA"/>
              </a:solidFill>
              <a:highlight>
                <a:srgbClr val="262730"/>
              </a:highlight>
            </a:endParaRPr>
          </a:p>
          <a:p>
            <a:pPr indent="-304800" lvl="0" marL="457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Char char="●"/>
            </a:pPr>
            <a:r>
              <a:t/>
            </a:r>
            <a:endParaRPr sz="1200">
              <a:solidFill>
                <a:srgbClr val="FAFAFA"/>
              </a:solidFill>
              <a:highlight>
                <a:srgbClr val="262730"/>
              </a:highlight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6"/>
          <p:cNvSpPr txBox="1"/>
          <p:nvPr>
            <p:ph type="title"/>
          </p:nvPr>
        </p:nvSpPr>
        <p:spPr>
          <a:xfrm>
            <a:off x="1052550" y="184167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/>
              <a:t>ML</a:t>
            </a:r>
            <a:endParaRPr b="1" sz="72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7"/>
          <p:cNvSpPr txBox="1"/>
          <p:nvPr/>
        </p:nvSpPr>
        <p:spPr>
          <a:xfrm>
            <a:off x="951950" y="154975"/>
            <a:ext cx="8073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Target</a:t>
            </a:r>
            <a:endParaRPr sz="2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0" name="Google Shape;290;p37"/>
          <p:cNvSpPr txBox="1"/>
          <p:nvPr/>
        </p:nvSpPr>
        <p:spPr>
          <a:xfrm>
            <a:off x="1394725" y="951975"/>
            <a:ext cx="5519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500">
                <a:solidFill>
                  <a:schemeClr val="lt1"/>
                </a:solidFill>
              </a:rPr>
              <a:t>Converted raintomorrow into 1 &amp; 0</a:t>
            </a:r>
            <a:endParaRPr b="1" sz="1500">
              <a:solidFill>
                <a:schemeClr val="lt1"/>
              </a:solidFill>
            </a:endParaRPr>
          </a:p>
        </p:txBody>
      </p:sp>
      <p:pic>
        <p:nvPicPr>
          <p:cNvPr id="291" name="Google Shape;29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875" y="1785900"/>
            <a:ext cx="7113402" cy="257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8"/>
          <p:cNvSpPr txBox="1"/>
          <p:nvPr/>
        </p:nvSpPr>
        <p:spPr>
          <a:xfrm>
            <a:off x="951950" y="154975"/>
            <a:ext cx="8073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Target</a:t>
            </a:r>
            <a:endParaRPr sz="2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7" name="Google Shape;297;p38"/>
          <p:cNvSpPr txBox="1"/>
          <p:nvPr/>
        </p:nvSpPr>
        <p:spPr>
          <a:xfrm>
            <a:off x="1394725" y="951975"/>
            <a:ext cx="55197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b="1" lang="en-GB" sz="1500">
                <a:solidFill>
                  <a:schemeClr val="lt1"/>
                </a:solidFill>
              </a:rPr>
              <a:t>Converted raintomorrow into 1 &amp; 0</a:t>
            </a:r>
            <a:endParaRPr b="1" sz="1500">
              <a:solidFill>
                <a:schemeClr val="lt1"/>
              </a:solidFill>
            </a:endParaRPr>
          </a:p>
          <a:p>
            <a:pPr indent="-323850" lvl="0" marL="457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b="1" lang="en-GB" sz="1500">
                <a:solidFill>
                  <a:schemeClr val="lt1"/>
                </a:solidFill>
              </a:rPr>
              <a:t>Splitting</a:t>
            </a:r>
            <a:r>
              <a:rPr b="1" lang="en-GB" sz="1500">
                <a:solidFill>
                  <a:schemeClr val="lt1"/>
                </a:solidFill>
              </a:rPr>
              <a:t> target and features </a:t>
            </a:r>
            <a:endParaRPr b="1" sz="1500">
              <a:solidFill>
                <a:schemeClr val="lt1"/>
              </a:solidFill>
            </a:endParaRPr>
          </a:p>
        </p:txBody>
      </p:sp>
      <p:pic>
        <p:nvPicPr>
          <p:cNvPr id="298" name="Google Shape;29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875" y="1785900"/>
            <a:ext cx="7113402" cy="257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9"/>
          <p:cNvSpPr txBox="1"/>
          <p:nvPr/>
        </p:nvSpPr>
        <p:spPr>
          <a:xfrm>
            <a:off x="951950" y="154975"/>
            <a:ext cx="8073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Fill missing values </a:t>
            </a:r>
            <a:endParaRPr sz="2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04" name="Google Shape;30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6275" y="743400"/>
            <a:ext cx="6750237" cy="4129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0"/>
          <p:cNvSpPr txBox="1"/>
          <p:nvPr/>
        </p:nvSpPr>
        <p:spPr>
          <a:xfrm>
            <a:off x="951950" y="154975"/>
            <a:ext cx="8073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Fill missing values </a:t>
            </a:r>
            <a:endParaRPr sz="2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0" name="Google Shape;310;p40"/>
          <p:cNvSpPr txBox="1"/>
          <p:nvPr/>
        </p:nvSpPr>
        <p:spPr>
          <a:xfrm>
            <a:off x="1158575" y="811750"/>
            <a:ext cx="7637700" cy="38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</a:rPr>
              <a:t>1) Selecting Location for Target Encoding</a:t>
            </a:r>
            <a:endParaRPr b="1" sz="18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-GB" sz="1100">
                <a:solidFill>
                  <a:schemeClr val="lt1"/>
                </a:solidFill>
              </a:rPr>
              <a:t>Used target encoder because i have 49 value so it was better than one hot encoder. One hot encoder will create a 49 cols </a:t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</a:rPr>
              <a:t>2) Numeric Transformer – Pipeline for Numerical Features</a:t>
            </a:r>
            <a:endParaRPr b="1" sz="1800">
              <a:solidFill>
                <a:schemeClr val="lt1"/>
              </a:solidFill>
            </a:endParaRPr>
          </a:p>
          <a:p>
            <a:pPr indent="-298450" lvl="0" marL="4572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-GB" sz="1100">
                <a:solidFill>
                  <a:schemeClr val="lt1"/>
                </a:solidFill>
              </a:rPr>
              <a:t>Handles missing values using the median and scales numerical data with RobustScaler to reduce the impact of outliers.</a:t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</a:rPr>
              <a:t>3) Categorical Transformer – Pipeline for Categorical Features</a:t>
            </a:r>
            <a:endParaRPr b="1" sz="1800">
              <a:solidFill>
                <a:schemeClr val="lt1"/>
              </a:solidFill>
            </a:endParaRPr>
          </a:p>
          <a:p>
            <a:pPr indent="-292100" lvl="0" marL="4572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b="1" lang="en-GB" sz="1000">
                <a:solidFill>
                  <a:schemeClr val="lt1"/>
                </a:solidFill>
              </a:rPr>
              <a:t>Fills missing categorical values with the most frequent category and converts text-based columns into numerical format using OneHotEncoding.</a:t>
            </a:r>
            <a:endParaRPr b="1"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1"/>
          <p:cNvSpPr txBox="1"/>
          <p:nvPr/>
        </p:nvSpPr>
        <p:spPr>
          <a:xfrm>
            <a:off x="951950" y="154975"/>
            <a:ext cx="8073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Final preparing </a:t>
            </a:r>
            <a:endParaRPr sz="2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16" name="Google Shape;31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2200" y="709075"/>
            <a:ext cx="7118381" cy="412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