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a703e5b98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a703e5b98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a703e5b98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a703e5b98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b93f3089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ab93f3089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b93f3089b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b93f3089b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b93f3089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ab93f3089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ab93f3089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ab93f3089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Weather AUS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3200">
                <a:latin typeface="Arial"/>
                <a:ea typeface="Arial"/>
                <a:cs typeface="Arial"/>
                <a:sym typeface="Arial"/>
              </a:rPr>
              <a:t>Prepared by Omar Essam</a:t>
            </a:r>
            <a:endParaRPr sz="3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preview 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dataset comprises about 10 years of daily weather observations from numerous locations across Australia.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shape: 145460 rows × 23 columns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After cleaning: 134590 rows × 32 columns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FAFAFA"/>
              </a:buClr>
              <a:buSzPts val="1200"/>
              <a:buFont typeface="Arial"/>
              <a:buChar char="●"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Temperature metrics: MinTemp, MaxTemp 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Font typeface="Arial"/>
              <a:buChar char="●"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Humidity: Humidity9am / Humidity3pm 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Font typeface="Arial"/>
              <a:buChar char="●"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Pressure: Pressure9am / Pressure3pm 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Font typeface="Arial"/>
              <a:buChar char="●"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Wind attributes: WindGustDir, WindGustSpeed, WindSpeed9am/3pm 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Font typeface="Arial"/>
              <a:buChar char="●"/>
            </a:pPr>
            <a:r>
              <a:rPr lang="en-GB" sz="1200">
                <a:solidFill>
                  <a:srgbClr val="FAFAFA"/>
                </a:solidFill>
                <a:highlight>
                  <a:srgbClr val="262730"/>
                </a:highlight>
                <a:latin typeface="Arial"/>
                <a:ea typeface="Arial"/>
                <a:cs typeface="Arial"/>
                <a:sym typeface="Arial"/>
              </a:rPr>
              <a:t>Target: RainTomorrow (Yes/No)</a:t>
            </a:r>
            <a:endParaRPr sz="1200">
              <a:solidFill>
                <a:srgbClr val="FAFAFA"/>
              </a:solidFill>
              <a:highlight>
                <a:srgbClr val="262730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943275" y="1059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Cleaning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018375" y="582975"/>
            <a:ext cx="8125500" cy="44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523"/>
              <a:buNone/>
            </a:pPr>
            <a:r>
              <a:rPr b="1" lang="en-GB" sz="1017">
                <a:latin typeface="Arial"/>
                <a:ea typeface="Arial"/>
                <a:cs typeface="Arial"/>
                <a:sym typeface="Arial"/>
              </a:rPr>
              <a:t> Handling data types</a:t>
            </a:r>
            <a:endParaRPr b="1" sz="1017">
              <a:latin typeface="Arial"/>
              <a:ea typeface="Arial"/>
              <a:cs typeface="Arial"/>
              <a:sym typeface="Arial"/>
            </a:endParaRPr>
          </a:p>
          <a:p>
            <a:pPr indent="-287178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●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Converted </a:t>
            </a:r>
            <a:r>
              <a:rPr b="1" lang="en-GB" sz="922">
                <a:latin typeface="Arial"/>
                <a:ea typeface="Arial"/>
                <a:cs typeface="Arial"/>
                <a:sym typeface="Arial"/>
              </a:rPr>
              <a:t>Date</a:t>
            </a:r>
            <a:r>
              <a:rPr lang="en-GB" sz="922">
                <a:latin typeface="Arial"/>
                <a:ea typeface="Arial"/>
                <a:cs typeface="Arial"/>
                <a:sym typeface="Arial"/>
              </a:rPr>
              <a:t> to datetime format.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●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Converted object/text columns into </a:t>
            </a:r>
            <a:r>
              <a:rPr b="1" lang="en-GB" sz="922">
                <a:latin typeface="Arial"/>
                <a:ea typeface="Arial"/>
                <a:cs typeface="Arial"/>
                <a:sym typeface="Arial"/>
              </a:rPr>
              <a:t>categorical</a:t>
            </a:r>
            <a:r>
              <a:rPr lang="en-GB" sz="922">
                <a:latin typeface="Arial"/>
                <a:ea typeface="Arial"/>
                <a:cs typeface="Arial"/>
                <a:sym typeface="Arial"/>
              </a:rPr>
              <a:t> types for efficiency and clarity.</a:t>
            </a: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523"/>
              <a:buNone/>
            </a:pPr>
            <a:r>
              <a:rPr b="1" lang="en-GB" sz="1017">
                <a:latin typeface="Arial"/>
                <a:ea typeface="Arial"/>
                <a:cs typeface="Arial"/>
                <a:sym typeface="Arial"/>
              </a:rPr>
              <a:t>Missing values strategy</a:t>
            </a:r>
            <a:endParaRPr b="1" sz="101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You used a smart two-level approach:</a:t>
            </a: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AutoNum type="arabicPeriod"/>
            </a:pPr>
            <a:r>
              <a:rPr b="1" lang="en-GB" sz="922">
                <a:latin typeface="Arial"/>
                <a:ea typeface="Arial"/>
                <a:cs typeface="Arial"/>
                <a:sym typeface="Arial"/>
              </a:rPr>
              <a:t>Drop rows</a:t>
            </a:r>
            <a:r>
              <a:rPr lang="en-GB" sz="922">
                <a:latin typeface="Arial"/>
                <a:ea typeface="Arial"/>
                <a:cs typeface="Arial"/>
                <a:sym typeface="Arial"/>
              </a:rPr>
              <a:t> where columns had very low missing values (&lt;5%).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AutoNum type="arabicPeriod"/>
            </a:pPr>
            <a:r>
              <a:rPr b="1" lang="en-GB" sz="922">
                <a:latin typeface="Arial"/>
                <a:ea typeface="Arial"/>
                <a:cs typeface="Arial"/>
                <a:sym typeface="Arial"/>
              </a:rPr>
              <a:t>Drop entire columns</a:t>
            </a:r>
            <a:r>
              <a:rPr lang="en-GB" sz="922">
                <a:latin typeface="Arial"/>
                <a:ea typeface="Arial"/>
                <a:cs typeface="Arial"/>
                <a:sym typeface="Arial"/>
              </a:rPr>
              <a:t> that were mostly missing (&gt;40%), such as: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Evaporation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Sunshine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AutoNum type="arabicPeriod"/>
            </a:pPr>
            <a:r>
              <a:rPr b="1" lang="en-GB" sz="922">
                <a:latin typeface="Arial"/>
                <a:ea typeface="Arial"/>
                <a:cs typeface="Arial"/>
                <a:sym typeface="Arial"/>
              </a:rPr>
              <a:t>Impute missing numeric features</a:t>
            </a:r>
            <a:r>
              <a:rPr lang="en-GB" sz="922">
                <a:latin typeface="Arial"/>
                <a:ea typeface="Arial"/>
                <a:cs typeface="Arial"/>
                <a:sym typeface="Arial"/>
              </a:rPr>
              <a:t> using median for columns like: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WindGustSpeed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Pressure9am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Pressure3pm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Cloud9am</a:t>
            </a:r>
            <a:br>
              <a:rPr lang="en-GB" sz="922">
                <a:latin typeface="Arial"/>
                <a:ea typeface="Arial"/>
                <a:cs typeface="Arial"/>
                <a:sym typeface="Arial"/>
              </a:rPr>
            </a:br>
            <a:endParaRPr sz="922">
              <a:latin typeface="Arial"/>
              <a:ea typeface="Arial"/>
              <a:cs typeface="Arial"/>
              <a:sym typeface="Arial"/>
            </a:endParaRPr>
          </a:p>
          <a:p>
            <a:pPr indent="-28717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23"/>
              <a:buFont typeface="Arial"/>
              <a:buChar char="○"/>
            </a:pPr>
            <a:r>
              <a:rPr lang="en-GB" sz="922">
                <a:latin typeface="Arial"/>
                <a:ea typeface="Arial"/>
                <a:cs typeface="Arial"/>
                <a:sym typeface="Arial"/>
              </a:rPr>
              <a:t>Cloud3p</a:t>
            </a:r>
            <a:r>
              <a:rPr lang="en-GB" sz="922">
                <a:latin typeface="Arial"/>
                <a:ea typeface="Arial"/>
                <a:cs typeface="Arial"/>
                <a:sym typeface="Arial"/>
              </a:rPr>
              <a:t>m</a:t>
            </a:r>
            <a:endParaRPr sz="1017"/>
          </a:p>
        </p:txBody>
      </p:sp>
      <p:sp>
        <p:nvSpPr>
          <p:cNvPr id="148" name="Google Shape;148;p15"/>
          <p:cNvSpPr txBox="1"/>
          <p:nvPr/>
        </p:nvSpPr>
        <p:spPr>
          <a:xfrm>
            <a:off x="5239425" y="1173350"/>
            <a:ext cx="3918600" cy="15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022">
                <a:solidFill>
                  <a:schemeClr val="lt1"/>
                </a:solidFill>
              </a:rPr>
              <a:t>4. impute categorical features</a:t>
            </a:r>
            <a:r>
              <a:rPr lang="en-GB" sz="1022">
                <a:solidFill>
                  <a:schemeClr val="lt1"/>
                </a:solidFill>
              </a:rPr>
              <a:t> using mode:</a:t>
            </a:r>
            <a:br>
              <a:rPr lang="en-GB" sz="1022">
                <a:solidFill>
                  <a:schemeClr val="lt1"/>
                </a:solidFill>
              </a:rPr>
            </a:br>
            <a:endParaRPr sz="1022">
              <a:solidFill>
                <a:schemeClr val="lt1"/>
              </a:solidFill>
            </a:endParaRPr>
          </a:p>
          <a:p>
            <a:pPr indent="-293528" lvl="1" marL="9144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23"/>
              <a:buChar char="○"/>
            </a:pPr>
            <a:r>
              <a:rPr lang="en-GB" sz="1022">
                <a:solidFill>
                  <a:schemeClr val="lt1"/>
                </a:solidFill>
              </a:rPr>
              <a:t>WindGustDir</a:t>
            </a:r>
            <a:br>
              <a:rPr lang="en-GB" sz="1022">
                <a:solidFill>
                  <a:schemeClr val="lt1"/>
                </a:solidFill>
              </a:rPr>
            </a:br>
            <a:endParaRPr sz="1022">
              <a:solidFill>
                <a:schemeClr val="lt1"/>
              </a:solidFill>
            </a:endParaRPr>
          </a:p>
          <a:p>
            <a:pPr indent="-293528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23"/>
              <a:buChar char="○"/>
            </a:pPr>
            <a:r>
              <a:rPr lang="en-GB" sz="1022">
                <a:solidFill>
                  <a:schemeClr val="lt1"/>
                </a:solidFill>
              </a:rPr>
              <a:t>WindDir9am</a:t>
            </a:r>
            <a:endParaRPr sz="1122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title"/>
          </p:nvPr>
        </p:nvSpPr>
        <p:spPr>
          <a:xfrm>
            <a:off x="943275" y="1059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Feature Engineering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6"/>
          <p:cNvSpPr txBox="1"/>
          <p:nvPr>
            <p:ph idx="1" type="body"/>
          </p:nvPr>
        </p:nvSpPr>
        <p:spPr>
          <a:xfrm>
            <a:off x="943275" y="605125"/>
            <a:ext cx="7941600" cy="4427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Seasonal &amp; time-based features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Extracted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Year, Month, Day, DayOfYear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Created a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Season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feature (Summer, Autumn, Winter, Spring)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Weather-derived features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TempDiff = MaxTemp – MinTemp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PressureDrop = Pressure9am – Pressure3pm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HumidityDiff = Humidity3pm – Humidity9am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WindSpeedChange = WindSpeed3pm – WindSpeed9am</a:t>
            </a:r>
            <a:br>
              <a:rPr b="1" lang="en-GB" sz="1100">
                <a:latin typeface="Arial"/>
                <a:ea typeface="Arial"/>
                <a:cs typeface="Arial"/>
                <a:sym typeface="Arial"/>
              </a:rPr>
            </a:b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IsWindyDay = 1 if WindGustSpeed &gt; 60 else 0</a:t>
            </a: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Cleaned target feature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Normalised 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Rain Tomorrow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into a clean </a:t>
            </a:r>
            <a:r>
              <a:rPr b="1" lang="en-GB" sz="1100">
                <a:latin typeface="Arial"/>
                <a:ea typeface="Arial"/>
                <a:cs typeface="Arial"/>
                <a:sym typeface="Arial"/>
              </a:rPr>
              <a:t>RainTomorrow_bin (Yes/No)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category.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type="title"/>
          </p:nvPr>
        </p:nvSpPr>
        <p:spPr>
          <a:xfrm>
            <a:off x="943275" y="1059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EDA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>
            <p:ph idx="1" type="body"/>
          </p:nvPr>
        </p:nvSpPr>
        <p:spPr>
          <a:xfrm>
            <a:off x="943275" y="605125"/>
            <a:ext cx="7941600" cy="4427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Missing Values Overview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Visualized missingness per column (bar chart).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Explained why some columns were removed or imputed.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Numeric distributions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Used histograms + boxplots to evaluate: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○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Skewness</a:t>
            </a:r>
            <a:br>
              <a:rPr lang="en-GB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○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Outliers</a:t>
            </a:r>
            <a:br>
              <a:rPr lang="en-GB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○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Seasonal trends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/>
          <p:nvPr>
            <p:ph type="title"/>
          </p:nvPr>
        </p:nvSpPr>
        <p:spPr>
          <a:xfrm>
            <a:off x="943275" y="1059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EDA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 txBox="1"/>
          <p:nvPr>
            <p:ph idx="1" type="body"/>
          </p:nvPr>
        </p:nvSpPr>
        <p:spPr>
          <a:xfrm>
            <a:off x="943275" y="605125"/>
            <a:ext cx="7941600" cy="4427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Correlation heatmap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Showed relationships between weather variables.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Key insights included: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○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PressureDrop strongly relates to rainfall.</a:t>
            </a:r>
            <a:br>
              <a:rPr lang="en-GB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○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Humidity3pm correlates with next-day rain more than Humidity9am.</a:t>
            </a:r>
            <a:br>
              <a:rPr lang="en-GB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○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Wind-related features vary significantly across rainy days.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Target variable analysis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Observed class imbalance (more “No” than “Yes”).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Analyzed patterns affecting RainTomorrow.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title"/>
          </p:nvPr>
        </p:nvSpPr>
        <p:spPr>
          <a:xfrm>
            <a:off x="943275" y="1059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EDA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9"/>
          <p:cNvSpPr txBox="1"/>
          <p:nvPr>
            <p:ph idx="1" type="body"/>
          </p:nvPr>
        </p:nvSpPr>
        <p:spPr>
          <a:xfrm>
            <a:off x="943275" y="605125"/>
            <a:ext cx="7941600" cy="4427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>
                <a:latin typeface="Arial"/>
                <a:ea typeface="Arial"/>
                <a:cs typeface="Arial"/>
                <a:sym typeface="Arial"/>
              </a:rPr>
              <a:t>Location-based rainfall probability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Computed top 15 locations with highest rain likelihood.</a:t>
            </a:r>
            <a:br>
              <a:rPr lang="en-GB" sz="1100">
                <a:latin typeface="Arial"/>
                <a:ea typeface="Arial"/>
                <a:cs typeface="Arial"/>
                <a:sym typeface="Arial"/>
              </a:rPr>
            </a:b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n-GB" sz="1100">
                <a:latin typeface="Arial"/>
                <a:ea typeface="Arial"/>
                <a:cs typeface="Arial"/>
                <a:sym typeface="Arial"/>
              </a:rPr>
              <a:t>Showed geographic variation in weather behavior.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